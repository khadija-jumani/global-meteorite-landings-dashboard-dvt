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94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38BDF8"/>
                </a:solidFill>
                <a:latin typeface="Arial"/>
              </a:rPr>
              <a:t>Global Meteorite Landings</a:t>
            </a:r>
          </a:p>
          <a:p>
            <a:pPr algn="ctr"/>
            <a:r>
              <a:rPr sz="4400" b="1">
                <a:solidFill>
                  <a:srgbClr val="38BDF8"/>
                </a:solidFill>
                <a:latin typeface="Arial"/>
              </a:rPr>
              <a:t>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126182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2400">
                <a:solidFill>
                  <a:srgbClr val="F8FAFC"/>
                </a:solidFill>
              </a:defRPr>
            </a:pPr>
            <a:r>
              <a:rPr dirty="0"/>
              <a:t>Data Visualization Techniques (DSC327) - Final Project</a:t>
            </a:r>
          </a:p>
          <a:p>
            <a:br>
              <a:rPr dirty="0"/>
            </a:br>
            <a:r>
              <a:rPr dirty="0">
                <a:highlight>
                  <a:srgbClr val="FFFF00"/>
                </a:highlight>
              </a:rPr>
              <a:t>Presented by: Khadija Jumani (SP23-BDS-023)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38BDF8"/>
                </a:solidFill>
                <a:latin typeface="Arial"/>
              </a:rPr>
              <a:t>1. Dataset Overview &amp;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r>
              <a:rPr sz="2400" b="1">
                <a:solidFill>
                  <a:srgbClr val="38BDF8"/>
                </a:solidFill>
                <a:latin typeface="Arial"/>
              </a:rPr>
              <a:t>Dataset: NASA Global Meteorite Landings</a:t>
            </a:r>
          </a:p>
          <a:p>
            <a:pPr lvl="1"/>
            <a:r>
              <a:rPr sz="1800" b="0">
                <a:solidFill>
                  <a:srgbClr val="F8FAFC"/>
                </a:solidFill>
                <a:latin typeface="Arial"/>
              </a:rPr>
              <a:t>A rich, multidimensional dataset containing geospatial (Lat/Lng), temporal (Year), categorical (Class), and quantitative (Mass) variables.</a:t>
            </a:r>
          </a:p>
          <a:p>
            <a:br/>
            <a:r>
              <a:rPr sz="2400" b="1">
                <a:solidFill>
                  <a:srgbClr val="38BDF8"/>
                </a:solidFill>
                <a:latin typeface="Arial"/>
              </a:rPr>
              <a:t>Data Preprocessing Steps:</a:t>
            </a:r>
          </a:p>
          <a:p>
            <a:pPr lvl="1"/>
            <a:r>
              <a:rPr sz="1800" b="0">
                <a:solidFill>
                  <a:srgbClr val="F8FAFC"/>
                </a:solidFill>
                <a:latin typeface="Arial"/>
              </a:rPr>
              <a:t>Data Cleaning: Removed rows with missing geographical coordinates or anomalous years (e.g., future dates).</a:t>
            </a:r>
          </a:p>
          <a:p>
            <a:pPr lvl="1"/>
            <a:r>
              <a:rPr sz="1800" b="0">
                <a:solidFill>
                  <a:srgbClr val="F8FAFC"/>
                </a:solidFill>
                <a:latin typeface="Arial"/>
              </a:rPr>
              <a:t>Formatting: Standardized mass scales and temporal integers to ensure smooth rendering.</a:t>
            </a:r>
          </a:p>
          <a:p>
            <a:pPr lvl="1"/>
            <a:r>
              <a:rPr sz="1800" b="0">
                <a:solidFill>
                  <a:srgbClr val="F8FAFC"/>
                </a:solidFill>
                <a:latin typeface="Arial"/>
              </a:rPr>
              <a:t>Performance Tuning: Reduced the dataset to the most significant 5,000 landings to maintain 60 FPS performance in the web browser without sacrificing visual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38BDF8"/>
                </a:solidFill>
                <a:latin typeface="Arial"/>
              </a:rPr>
              <a:t>2. Exploratory Data Analysis (EDA)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r>
              <a:rPr sz="2400" b="1">
                <a:solidFill>
                  <a:srgbClr val="38BDF8"/>
                </a:solidFill>
                <a:latin typeface="Arial"/>
              </a:rPr>
              <a:t>Temporal Insights:</a:t>
            </a:r>
          </a:p>
          <a:p>
            <a:pPr lvl="1"/>
            <a:r>
              <a:rPr sz="1800" b="0">
                <a:solidFill>
                  <a:srgbClr val="F8FAFC"/>
                </a:solidFill>
                <a:latin typeface="Arial"/>
              </a:rPr>
              <a:t>Histogram analysis reveals a massive spike in recorded impacts during the 20th and 21st centuries. This correlates with the advent of modern astronomical observation tools.</a:t>
            </a:r>
          </a:p>
          <a:p>
            <a:br/>
            <a:r>
              <a:rPr sz="2400" b="1">
                <a:solidFill>
                  <a:srgbClr val="38BDF8"/>
                </a:solidFill>
                <a:latin typeface="Arial"/>
              </a:rPr>
              <a:t>Categorical Insights:</a:t>
            </a:r>
          </a:p>
          <a:p>
            <a:pPr lvl="1"/>
            <a:r>
              <a:rPr sz="1800" b="0">
                <a:solidFill>
                  <a:srgbClr val="F8FAFC"/>
                </a:solidFill>
                <a:latin typeface="Arial"/>
              </a:rPr>
              <a:t>The meteorite classes follow a Pareto principle. Classes like 'L6' and 'H5' dominate the total count, forming the basis for our Donut Chart visualization.</a:t>
            </a:r>
          </a:p>
          <a:p>
            <a:br/>
            <a:r>
              <a:rPr sz="2400" b="1">
                <a:solidFill>
                  <a:srgbClr val="38BDF8"/>
                </a:solidFill>
                <a:latin typeface="Arial"/>
              </a:rPr>
              <a:t>Geospatial Insights:</a:t>
            </a:r>
          </a:p>
          <a:p>
            <a:pPr lvl="1"/>
            <a:r>
              <a:rPr sz="1800" b="0">
                <a:solidFill>
                  <a:srgbClr val="F8FAFC"/>
                </a:solidFill>
                <a:latin typeface="Arial"/>
              </a:rPr>
              <a:t>Landings are heavily clustered over populated continents (North America, Europe). This indicates reporting bias, which is clearly visible when mapped.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38BDF8"/>
                </a:solidFill>
                <a:latin typeface="Arial"/>
              </a:rPr>
              <a:t>3. Visualizations (Marks &amp; Channels)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r>
              <a:rPr sz="2200" b="1">
                <a:solidFill>
                  <a:srgbClr val="38BDF8"/>
                </a:solidFill>
                <a:latin typeface="Arial"/>
              </a:rPr>
              <a:t>Interactive Map (D3 GeoMercator)</a:t>
            </a:r>
          </a:p>
          <a:p>
            <a:pPr lvl="1"/>
            <a:r>
              <a:rPr sz="1600" b="0">
                <a:solidFill>
                  <a:srgbClr val="F8FAFC"/>
                </a:solidFill>
                <a:latin typeface="Arial"/>
              </a:rPr>
              <a:t>Mark: Points (Circles).</a:t>
            </a:r>
          </a:p>
          <a:p>
            <a:pPr lvl="1"/>
            <a:r>
              <a:rPr sz="1600" b="0">
                <a:solidFill>
                  <a:srgbClr val="F8FAFC"/>
                </a:solidFill>
                <a:latin typeface="Arial"/>
              </a:rPr>
              <a:t>Channels: Spatial Position (Lat/Lng), Size (Square root scale for graphical integrity representing Mass), and Color Hue (Class).</a:t>
            </a:r>
          </a:p>
          <a:p>
            <a:br/>
            <a:r>
              <a:rPr sz="2200" b="1">
                <a:solidFill>
                  <a:srgbClr val="38BDF8"/>
                </a:solidFill>
                <a:latin typeface="Arial"/>
              </a:rPr>
              <a:t>Timeline Histogram</a:t>
            </a:r>
          </a:p>
          <a:p>
            <a:pPr lvl="1"/>
            <a:r>
              <a:rPr sz="1600" b="0">
                <a:solidFill>
                  <a:srgbClr val="F8FAFC"/>
                </a:solidFill>
                <a:latin typeface="Arial"/>
              </a:rPr>
              <a:t>Mark: Lines/Areas (Bars).</a:t>
            </a:r>
          </a:p>
          <a:p>
            <a:pPr lvl="1"/>
            <a:r>
              <a:rPr sz="1600" b="0">
                <a:solidFill>
                  <a:srgbClr val="F8FAFC"/>
                </a:solidFill>
                <a:latin typeface="Arial"/>
              </a:rPr>
              <a:t>Channels: Horizontal position (Year) and Vertical position (Count).</a:t>
            </a:r>
          </a:p>
          <a:p>
            <a:br/>
            <a:r>
              <a:rPr sz="2200" b="1">
                <a:solidFill>
                  <a:srgbClr val="38BDF8"/>
                </a:solidFill>
                <a:latin typeface="Arial"/>
              </a:rPr>
              <a:t>Class Distribution Donut Chart</a:t>
            </a:r>
          </a:p>
          <a:p>
            <a:pPr lvl="1"/>
            <a:r>
              <a:rPr sz="1600" b="0">
                <a:solidFill>
                  <a:srgbClr val="F8FAFC"/>
                </a:solidFill>
                <a:latin typeface="Arial"/>
              </a:rPr>
              <a:t>Mark: Area (Slices).</a:t>
            </a:r>
          </a:p>
          <a:p>
            <a:pPr lvl="1"/>
            <a:r>
              <a:rPr sz="1600" b="0">
                <a:solidFill>
                  <a:srgbClr val="F8FAFC"/>
                </a:solidFill>
                <a:latin typeface="Arial"/>
              </a:rPr>
              <a:t>Channels: Angle/Area (Count frequency) and Color Hue (matching the map).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38BDF8"/>
                </a:solidFill>
                <a:latin typeface="Arial"/>
              </a:rPr>
              <a:t>4. Advanced Interactivity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r>
              <a:rPr sz="2400" b="1">
                <a:solidFill>
                  <a:srgbClr val="38BDF8"/>
                </a:solidFill>
                <a:latin typeface="Arial"/>
              </a:rPr>
              <a:t>D3.js Event Handling &amp; Filters:</a:t>
            </a:r>
          </a:p>
          <a:p>
            <a:pPr lvl="1"/>
            <a:r>
              <a:rPr sz="1800" b="0">
                <a:solidFill>
                  <a:srgbClr val="F8FAFC"/>
                </a:solidFill>
                <a:latin typeface="Arial"/>
              </a:rPr>
              <a:t>Zoom &amp; Pan: Smooth semantic zooming on the GeoJSON map bounds.</a:t>
            </a:r>
          </a:p>
          <a:p>
            <a:pPr lvl="1"/>
            <a:r>
              <a:rPr sz="1800" b="0">
                <a:solidFill>
                  <a:srgbClr val="F8FAFC"/>
                </a:solidFill>
                <a:latin typeface="Arial"/>
              </a:rPr>
              <a:t>Tooltips: Hovering triggers DOM events to display an absolute-positioned floating div containing exact meteorite metrics.</a:t>
            </a:r>
          </a:p>
          <a:p>
            <a:pPr lvl="1"/>
            <a:r>
              <a:rPr sz="1800" b="0">
                <a:solidFill>
                  <a:srgbClr val="F8FAFC"/>
                </a:solidFill>
                <a:latin typeface="Arial"/>
              </a:rPr>
              <a:t>Brushing: The timeline uses d3.brushX() to capture pixel ranges, converting them via scale.invert() to dynamically slice the dataset by Year.</a:t>
            </a:r>
          </a:p>
          <a:p>
            <a:pPr lvl="1"/>
            <a:r>
              <a:rPr sz="1800" b="0">
                <a:solidFill>
                  <a:srgbClr val="F8FAFC"/>
                </a:solidFill>
                <a:latin typeface="Arial"/>
              </a:rPr>
              <a:t>Cross-Filtering: State management variables orchestrate live updates. Clicking a Donut slice recalculates the Map and Timeline simultaneously.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38BDF8"/>
                </a:solidFill>
                <a:latin typeface="Arial"/>
              </a:rPr>
              <a:t>5.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r>
              <a:rPr sz="2400" b="1">
                <a:solidFill>
                  <a:srgbClr val="38BDF8"/>
                </a:solidFill>
                <a:latin typeface="Arial"/>
              </a:rPr>
              <a:t>Bloom's Taxonomy Application (Creating):</a:t>
            </a:r>
          </a:p>
          <a:p>
            <a:pPr lvl="1"/>
            <a:r>
              <a:rPr sz="1800" b="0">
                <a:solidFill>
                  <a:srgbClr val="F8FAFC"/>
                </a:solidFill>
                <a:latin typeface="Arial"/>
              </a:rPr>
              <a:t>Synthesized raw CSV data into a unified, actionable visualization system.</a:t>
            </a:r>
          </a:p>
          <a:p>
            <a:br/>
            <a:r>
              <a:rPr sz="2400" b="1">
                <a:solidFill>
                  <a:srgbClr val="38BDF8"/>
                </a:solidFill>
                <a:latin typeface="Arial"/>
              </a:rPr>
              <a:t>Technical Achievements:</a:t>
            </a:r>
          </a:p>
          <a:p>
            <a:pPr lvl="1"/>
            <a:r>
              <a:rPr sz="1800" b="0">
                <a:solidFill>
                  <a:srgbClr val="F8FAFC"/>
                </a:solidFill>
                <a:latin typeface="Arial"/>
              </a:rPr>
              <a:t>Successfully maintained graphical integrity.</a:t>
            </a:r>
          </a:p>
          <a:p>
            <a:pPr lvl="1"/>
            <a:r>
              <a:rPr sz="1800" b="0">
                <a:solidFill>
                  <a:srgbClr val="F8FAFC"/>
                </a:solidFill>
                <a:latin typeface="Arial"/>
              </a:rPr>
              <a:t>Implemented complex D3.js data joins (enter/update/exit patterns).</a:t>
            </a:r>
          </a:p>
          <a:p>
            <a:pPr lvl="1"/>
            <a:r>
              <a:rPr sz="1800" b="0">
                <a:solidFill>
                  <a:srgbClr val="F8FAFC"/>
                </a:solidFill>
                <a:latin typeface="Arial"/>
              </a:rPr>
              <a:t>Delivered an aesthetically pleasing, responsive dark-mode 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471</Words>
  <Application>Microsoft Office PowerPoint</Application>
  <PresentationFormat>On-screen Show (4:3)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(SP23-BDS-023) KHADIJA JUMANI</cp:lastModifiedBy>
  <cp:revision>2</cp:revision>
  <dcterms:created xsi:type="dcterms:W3CDTF">2013-01-27T09:14:16Z</dcterms:created>
  <dcterms:modified xsi:type="dcterms:W3CDTF">2026-05-18T21:34:22Z</dcterms:modified>
  <cp:category/>
</cp:coreProperties>
</file>